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Target: Risk_Review_Flag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Risk_Review_Flag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BD8EC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2A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2A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review (80.4%)</c:v>
                </c:pt>
                <c:pt idx="1">
                  <c:v>Flagged — Yes (19.6%)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9648</c:v>
                </c:pt>
                <c:pt idx="1">
                  <c:v>2352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Volume by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8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Transfer</c:v>
                  </c:pt>
                  <c:pt idx="1">
                    <c:v>Card Purchase</c:v>
                  </c:pt>
                  <c:pt idx="2">
                    <c:v>Bill Payment</c:v>
                  </c:pt>
                  <c:pt idx="3">
                    <c:v>Cash Withdrawal</c:v>
                  </c:pt>
                  <c:pt idx="4">
                    <c:v>Deposit</c:v>
                  </c:pt>
                  <c:pt idx="5">
                    <c:v>Airtime/Data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3549</c:v>
                </c:pt>
                <c:pt idx="1">
                  <c:v>3033</c:v>
                </c:pt>
                <c:pt idx="2">
                  <c:v>1475</c:v>
                </c:pt>
                <c:pt idx="3">
                  <c:v>1430</c:v>
                </c:pt>
                <c:pt idx="4">
                  <c:v>1328</c:v>
                </c:pt>
                <c:pt idx="5">
                  <c:v>1185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B8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</c:v>
                </c:pt>
              </c:strCache>
            </c:strRef>
          </c:tx>
          <c:spPr>
            <a:solidFill>
              <a:srgbClr val="CBD8E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6B8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Gradient
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</c:v>
                </c:pt>
                <c:pt idx="1">
                  <c:v>0.665</c:v>
                </c:pt>
                <c:pt idx="2">
                  <c:v>0.662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 PR-AUC</c:v>
                </c:pt>
              </c:strCache>
            </c:strRef>
          </c:tx>
          <c:spPr>
            <a:solidFill>
              <a:srgbClr val="0F7A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6B8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Gradient
Boosting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0.311</c:v>
                </c:pt>
                <c:pt idx="1">
                  <c:v>0.318</c:v>
                </c:pt>
                <c:pt idx="2">
                  <c:v>0.315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5B6B8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B8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Transaction_Type</c:v>
                  </c:pt>
                  <c:pt idx="1">
                    <c:v>log(Amount)</c:v>
                  </c:pt>
                  <c:pt idx="2">
                    <c:v>International_Txn</c:v>
                  </c:pt>
                  <c:pt idx="3">
                    <c:v>Amount ÷ Income</c:v>
                  </c:pt>
                  <c:pt idx="4">
                    <c:v>Digital_Engagement</c:v>
                  </c:pt>
                  <c:pt idx="5">
                    <c:v>Is_Night (00–06h)</c:v>
                  </c:pt>
                  <c:pt idx="6">
                    <c:v>Account_Status</c:v>
                  </c:pt>
                  <c:pt idx="7">
                    <c:v>Device_Type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0.0423</c:v>
                </c:pt>
                <c:pt idx="1">
                  <c:v>0.0354</c:v>
                </c:pt>
                <c:pt idx="2">
                  <c:v>0.016</c:v>
                </c:pt>
                <c:pt idx="3">
                  <c:v>0.0118</c:v>
                </c:pt>
                <c:pt idx="4">
                  <c:v>0.004</c:v>
                </c:pt>
                <c:pt idx="5">
                  <c:v>0.0029</c:v>
                </c:pt>
                <c:pt idx="6">
                  <c:v>0.0017</c:v>
                </c:pt>
                <c:pt idx="7">
                  <c:v>0.0014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50" u="none">
                  <a:solidFill>
                    <a:srgbClr val="5B6B8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Flag Rate by Hour of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Flag rate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0.284</c:v>
                </c:pt>
                <c:pt idx="1">
                  <c:v>0.292</c:v>
                </c:pt>
                <c:pt idx="2">
                  <c:v>0.262</c:v>
                </c:pt>
                <c:pt idx="3">
                  <c:v>0.148</c:v>
                </c:pt>
                <c:pt idx="4">
                  <c:v>0.184</c:v>
                </c:pt>
                <c:pt idx="5">
                  <c:v>0.16</c:v>
                </c:pt>
                <c:pt idx="6">
                  <c:v>0.16</c:v>
                </c:pt>
                <c:pt idx="7">
                  <c:v>0.178</c:v>
                </c:pt>
                <c:pt idx="8">
                  <c:v>0.202</c:v>
                </c:pt>
                <c:pt idx="9">
                  <c:v>0.182</c:v>
                </c:pt>
                <c:pt idx="10">
                  <c:v>0.168</c:v>
                </c:pt>
                <c:pt idx="11">
                  <c:v>0.154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Flag Rate by Transaction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Flag rate</c:v>
                </c:pt>
              </c:strCache>
            </c:strRef>
          </c:tx>
          <c:spPr>
            <a:solidFill>
              <a:srgbClr val="D98C2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B6B8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Transfer</c:v>
                  </c:pt>
                  <c:pt idx="1">
                    <c:v>Cash Withdrawal</c:v>
                  </c:pt>
                  <c:pt idx="2">
                    <c:v>Deposit</c:v>
                  </c:pt>
                  <c:pt idx="3">
                    <c:v>Airtime/Data</c:v>
                  </c:pt>
                  <c:pt idx="4">
                    <c:v>Card Purchase</c:v>
                  </c:pt>
                  <c:pt idx="5">
                    <c:v>Bill Payment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0.285</c:v>
                </c:pt>
                <c:pt idx="1">
                  <c:v>0.253</c:v>
                </c:pt>
                <c:pt idx="2">
                  <c:v>0.162</c:v>
                </c:pt>
                <c:pt idx="3">
                  <c:v>0.152</c:v>
                </c:pt>
                <c:pt idx="4">
                  <c:v>0.13</c:v>
                </c:pt>
                <c:pt idx="5">
                  <c:v>0.128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50" u="none">
                  <a:solidFill>
                    <a:srgbClr val="5B6B8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Transactions by Risk Band (full dataset)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F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8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
(&lt; 0.17)</c:v>
                  </c:pt>
                  <c:pt idx="1">
                    <c:v>Medium
(0.17–0.34)</c:v>
                  </c:pt>
                  <c:pt idx="2">
                    <c:v>High
(≥ 0.34)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1549</c:v>
                </c:pt>
                <c:pt idx="1">
                  <c:v>5328</c:v>
                </c:pt>
                <c:pt idx="2">
                  <c:v>5123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B6B8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 •  Risk Review ML  •  Week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71432" y="6510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training exercise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2038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1420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ML ENGINEERING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FinTrust Risk Review Model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results, insights and recommendations from the integration-ready scoring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scored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4709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(hold-out)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4709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review-flag 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AnalystLab Africa Experience Lab  •  Synthetic training data — not a real fraud system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checkpoints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Validation → Feature Preparation → Model → Prediction, wrapped by a tested CLI and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066544" cy="3246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9576" y="2423160"/>
            <a:ext cx="621792" cy="621792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7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56946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66544" y="2276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2004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17007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txns × 1,500 customers, joined and checksummed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33472" y="2148840"/>
            <a:ext cx="2066544" cy="3246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55848" y="2423160"/>
            <a:ext cx="621792" cy="621792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13" name="Image 1" descr="icons/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25694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42816" y="2276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70632" y="32004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816352" y="3611880"/>
            <a:ext cx="17007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rejects (bad amount/date) vs. soft warns (unseen category)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09744" y="2148840"/>
            <a:ext cx="2066544" cy="3246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32120" y="2423160"/>
            <a:ext cx="621792" cy="621792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19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256946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2276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946904" y="32004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992624" y="3611880"/>
            <a:ext cx="17007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engineered signals: amount, timing, channel, customer profile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986016" y="2148840"/>
            <a:ext cx="2066544" cy="3246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08392" y="2423160"/>
            <a:ext cx="621792" cy="621792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25" name="Image 3" descr="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256946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95360" y="2276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123176" y="32004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168896" y="3611880"/>
            <a:ext cx="17007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candidates compared by 5-fold CV; random forest selected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162288" y="2148840"/>
            <a:ext cx="2066544" cy="3246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884664" y="2423160"/>
            <a:ext cx="621792" cy="621792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31" name="Image 4" descr="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56946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771632" y="2276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299448" y="32004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9345168" y="3611880"/>
            <a:ext cx="17007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0-1, risk band, served via CLI, notebook and API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imbalanced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72184"/>
            <a:ext cx="457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14600" y="147218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Jan–Mar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21992"/>
            <a:ext cx="457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671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14600" y="22219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0 orphan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5720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169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14600" y="2971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risk review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21608"/>
            <a:ext cx="45720" cy="566928"/>
          </a:xfrm>
          <a:prstGeom prst="rect">
            <a:avLst/>
          </a:prstGeom>
          <a:solidFill>
            <a:srgbClr val="D98C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667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/ 96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14600" y="37216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Device_Type / Location (by design)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35040" y="1371600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8915400" y="1188720"/>
          <a:ext cx="28346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/>
          <p:nvPr/>
        </p:nvSpPr>
        <p:spPr>
          <a:xfrm>
            <a:off x="457200" y="5257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one-to-many join (txn → customer) with no duplicate IDs and only the two intentionally-seeded gaps; the target is imbalanced — 1 in 5 transactions is flagged.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— PART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candidates, compared on equal footing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the Jan–Feb training split; ranked by PR-AUC (the right metric for a 20% positive rate)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492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783080"/>
            <a:ext cx="4480560" cy="4114800"/>
          </a:xfrm>
          <a:prstGeom prst="roundRect">
            <a:avLst>
              <a:gd name="adj" fmla="val 2222"/>
            </a:avLst>
          </a:prstGeom>
          <a:solidFill>
            <a:srgbClr val="1B2A4A"/>
          </a:solidFill>
          <a:ln/>
        </p:spPr>
      </p:sp>
      <p:pic>
        <p:nvPicPr>
          <p:cNvPr id="7" name="Image 0" descr="icons/white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0574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20848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Random Forest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589520" y="26060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class_weight=’balanced’, 300 trees, min 5 samples/leaf — best PR-AUC of the three, and the most stable across folds.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58952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014984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0.665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58952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PR-AUC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0149840" y="3931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0.318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8952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threshold (F1-optimal)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149840" y="4343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589520" y="4800600"/>
            <a:ext cx="3886200" cy="0"/>
          </a:xfrm>
          <a:prstGeom prst="line">
            <a:avLst/>
          </a:prstGeom>
          <a:noFill/>
          <a:ln w="12700">
            <a:solidFill>
              <a:srgbClr val="3A4B7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589520" y="49377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performed within ~1pt PR-AUC of each other — a signal that the label has limited learnable structure, not that tuning is the bottleneck.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PART 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selected model performs on unseen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hold-out: trained on January–February, evaluated once on March (4,133 transactions) — no future data leaks into training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78308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9202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40280" y="25146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(base 0.20)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0" y="178308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9202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31920" y="25146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178308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9202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23560" y="25146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(threshold 0.34, n=4,133)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4381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No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71800" y="34381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Yes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280160" y="3730752"/>
            <a:ext cx="1691640" cy="777240"/>
          </a:xfrm>
          <a:prstGeom prst="rect">
            <a:avLst/>
          </a:prstGeom>
          <a:solidFill>
            <a:srgbClr val="CBD8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73075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1,913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71800" y="3730752"/>
            <a:ext cx="1691640" cy="777240"/>
          </a:xfrm>
          <a:prstGeom prst="rect">
            <a:avLst/>
          </a:prstGeom>
          <a:solidFill>
            <a:srgbClr val="F6D9C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73075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1,391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80160" y="4507992"/>
            <a:ext cx="1691640" cy="777240"/>
          </a:xfrm>
          <a:prstGeom prst="rect">
            <a:avLst/>
          </a:prstGeom>
          <a:solidFill>
            <a:srgbClr val="F6D9C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50799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285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71800" y="4507992"/>
            <a:ext cx="1691640" cy="777240"/>
          </a:xfrm>
          <a:prstGeom prst="rect">
            <a:avLst/>
          </a:prstGeom>
          <a:solidFill>
            <a:srgbClr val="CDEAE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450799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544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Yes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3200400"/>
            <a:ext cx="5212080" cy="2880360"/>
          </a:xfrm>
          <a:prstGeom prst="roundRect">
            <a:avLst>
              <a:gd name="adj" fmla="val 3175"/>
            </a:avLst>
          </a:prstGeom>
          <a:solidFill>
            <a:srgbClr val="1B2A4A"/>
          </a:solidFill>
          <a:ln/>
        </p:spPr>
      </p:sp>
      <p:pic>
        <p:nvPicPr>
          <p:cNvPr id="31" name="Image 0" descr="icons/white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3456432"/>
            <a:ext cx="411480" cy="4114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36092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12280" y="39776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better than chance (AUC 0.67 vs. 0.50) but is a weak-to-moderate signal, not a reliable automated decision.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threshold it catches 66% of flagged transactions, at the cost of reviewing ~47% of all traffic (1,391 false positives).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consistently over-flags relative to the true 20% base rate — expected given class-balanced training; tune the threshold to the team's review capacity.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 risk-review flag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on the March hold-out — drop in PR-AUC when a feature is shuffled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737360"/>
            <a:ext cx="457200" cy="457200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7" name="Image 0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84708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0" y="1709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transactions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46720" y="203911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36.9% flag rate vs. 18.9% domestic — 2x higher risk, despite being only 4% of volume.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406640" y="3154680"/>
            <a:ext cx="457200" cy="457200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11" name="Image 1" descr="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326440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withdrawals lead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046720" y="345643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(28.5%) and Cash Withdrawal (25.3%) flag far more than Bill Payment (12.8%).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406640" y="4572000"/>
            <a:ext cx="457200" cy="457200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15" name="Image 2" descr="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468172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0" y="4544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night effect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046720" y="487375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00:00–05:59 flags 25–31% of transactions vs. ~15–18% in daytime hours.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concentrates by time and transaction type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3232" y="1783080"/>
            <a:ext cx="960120" cy="1920240"/>
          </a:xfrm>
          <a:prstGeom prst="rect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79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(00:00–06:00)</a:t>
            </a:r>
            <a:endParaRPr lang="en-US" sz="8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41732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526280"/>
            <a:ext cx="11292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pic>
        <p:nvPicPr>
          <p:cNvPr id="9" name="Image 0" descr="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7316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47091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hours (00:00–05:59) and money-movement transaction types (Transfer, Cash Withdrawal) are consistently the highest-risk slices, and the effects are independent — a late-night transfer carries both risk factors at once. This matches common fraud-pattern intuition even though the label here is synthetic.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PART E/F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score to action: risk bands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gets a risk_score (0–1), a Yes/No flag at the tuned threshold, and a band for routing — via CLI, notebook or the /predict API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874520"/>
            <a:ext cx="5760720" cy="4023360"/>
          </a:xfrm>
          <a:prstGeom prst="roundRect">
            <a:avLst>
              <a:gd name="adj" fmla="val 2273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/predict response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26060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0" y="2606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Withdrawal · ₦450,000 · ATM, Kano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971800"/>
            <a:ext cx="5257800" cy="0"/>
          </a:xfrm>
          <a:prstGeom prst="line">
            <a:avLst/>
          </a:prstGeom>
          <a:noFill/>
          <a:ln w="9525">
            <a:solidFill>
              <a:srgbClr val="2E3E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30358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risk_score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0" y="30358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3401568"/>
            <a:ext cx="5257800" cy="0"/>
          </a:xfrm>
          <a:prstGeom prst="line">
            <a:avLst/>
          </a:prstGeom>
          <a:noFill/>
          <a:ln w="9525">
            <a:solidFill>
              <a:srgbClr val="2E3E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34655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predicted_risk_review_flag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0" y="34655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63640" y="3831336"/>
            <a:ext cx="5257800" cy="0"/>
          </a:xfrm>
          <a:prstGeom prst="line">
            <a:avLst/>
          </a:prstGeom>
          <a:noFill/>
          <a:ln w="9525">
            <a:solidFill>
              <a:srgbClr val="2E3E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8953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risk_band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0" y="38953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4261104"/>
            <a:ext cx="5257800" cy="0"/>
          </a:xfrm>
          <a:prstGeom prst="line">
            <a:avLst/>
          </a:prstGeom>
          <a:noFill/>
          <a:ln w="9525">
            <a:solidFill>
              <a:srgbClr val="2E3E6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43251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0" y="43251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63640" y="4690872"/>
            <a:ext cx="5257800" cy="0"/>
          </a:xfrm>
          <a:prstGeom prst="line">
            <a:avLst/>
          </a:prstGeom>
          <a:noFill/>
          <a:ln w="9525">
            <a:solidFill>
              <a:srgbClr val="2E3E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4754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model_version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144000" y="4754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0.3.0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63640" y="52578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carried on every response: “Risk_Review_Flag is a synthetic educational label, not a fraud determination. Scores are decision support for human review only.”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653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0992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solid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feature prep and scoring are reusable, tested (68 automated tests) and reproducible — identical seed gives identical metrics and predictions.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508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737360"/>
            <a:ext cx="502920" cy="502920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11" name="Image 1" descr="icon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653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70992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is real but weak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09360" y="23774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0.67 / PR-AUC 0.33 against a 0.20 base rate: the model ranks risk meaningfully better than random, but isn't precise enough to act on alone.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703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931920"/>
            <a:ext cx="502920" cy="502920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16" name="Image 2" descr="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0599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90448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features carry most of the signal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31520" y="45720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Transaction_Type, amount and International_Transaction dominate; demographic features (Age, Gender, City) barely move the needle.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35040" y="3703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63640" y="3931920"/>
            <a:ext cx="502920" cy="502920"/>
          </a:xfrm>
          <a:prstGeom prst="ellipse">
            <a:avLst/>
          </a:prstGeom>
          <a:solidFill>
            <a:srgbClr val="E7ECF6"/>
          </a:solidFill>
          <a:ln/>
        </p:spPr>
      </p:sp>
      <p:pic>
        <p:nvPicPr>
          <p:cNvPr id="21" name="Image 3" descr="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40599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90448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has clear structure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09360" y="45720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hours and money-movement transaction types (Transfer, Cash Withdrawal) are consistently higher-risk — actionable for routing even before model scores.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take this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26464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triage, not a verdict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9080" y="1426464"/>
            <a:ext cx="7635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High-band transactions to a reviewer queue rather than auto-declining. At precision 0.28, roughly 3 in 4 High-band alerts need a human to confirm.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1124712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59152"/>
            <a:ext cx="457200" cy="45720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threshold to review capacity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2322576"/>
            <a:ext cx="7635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 maximises F1, but the team can trade recall for precision (raise it) or vice versa, depending on how many transactions reviewers can actually handle per day.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1124712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rgbClr val="D98C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21868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behavioural history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3218688"/>
            <a:ext cx="7635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rolling features — recent transaction count, average amount, days since last international transaction — are the most promising next lift, with careful leakage control.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22776"/>
            <a:ext cx="1124712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5137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11480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Data Science model when available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4114800"/>
            <a:ext cx="7635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ModelInterface (predict_proba / threshold / version) is ready to accept a DS-track model; compare it against this baseline on the same March hold-out before switching.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18888"/>
            <a:ext cx="1124712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047488"/>
            <a:ext cx="457200" cy="457200"/>
          </a:xfrm>
          <a:prstGeom prst="ellipse">
            <a:avLst/>
          </a:prstGeom>
          <a:solidFill>
            <a:srgbClr val="5B6B8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501091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service before any real 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69080" y="5010912"/>
            <a:ext cx="7635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auth, rate limiting and audit logging to the API; monitor for drift since this is trained on one static 3-month window.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how to reproduce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pic>
        <p:nvPicPr>
          <p:cNvPr id="5" name="Image 0" descr="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19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label — not validated against real fraud outcomes.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probability calibration; scores rank but don't mean literal probabilities.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3-month window; no drift monitoring.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fields included for comparison, with limited predictive value — review for fairness before any production use.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has no auth, rate limiting or logging yet.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/>
        </p:spPr>
      </p:sp>
      <p:pic>
        <p:nvPicPr>
          <p:cNvPr id="9" name="Image 1" descr="icons/white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719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evidence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8368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fixed (42); two independent training runs produced identical metrics and an identical SHA-256 of the prediction vector.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files checksummed (SHA-256) and logged in metrics.json.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automated tests cover validation, features, model loading, prediction and output format.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run: pip install → cli.py prepare → cli.py train → cli.py predict, or run the Databricks notebook top-to-bottom.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2026-10-04T20:57:48Z</dcterms:created>
  <dcterms:modified xsi:type="dcterms:W3CDTF">2026-10-04T20:57:48Z</dcterms:modified>
</cp:coreProperties>
</file>